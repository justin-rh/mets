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61" r:id="rId5"/>
    <p:sldId id="259" r:id="rId6"/>
    <p:sldId id="260" r:id="rId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05" d="100"/>
          <a:sy n="105" d="100"/>
        </p:scale>
        <p:origin x="798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FB12F1E-D5CD-1AAA-4244-BC7928445427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hdr"/>
              </p:ext>
            </p:extLst>
          </p:nvPr>
        </p:nvSpPr>
        <p:spPr>
          <a:xfrm>
            <a:off x="63500" y="63500"/>
            <a:ext cx="581025" cy="15240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US" sz="1000">
                <a:solidFill>
                  <a:srgbClr val="0000FF">
                    <a:alpha val="50000"/>
                  </a:srgbClr>
                </a:solidFill>
                <a:latin typeface="Aptos" panose="020B0004020202020204" pitchFamily="34" charset="0"/>
              </a:rPr>
              <a:t>INTERNAL</a:t>
            </a:r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554480"/>
          </a:xfrm>
          <a:prstGeom prst="rect">
            <a:avLst/>
          </a:prstGeom>
          <a:solidFill>
            <a:srgbClr val="1621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058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F08A1D"/>
                </a:solidFill>
              </a:rPr>
              <a:t>PROBLEM  ·  1/6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FFFFFF"/>
                </a:solidFill>
              </a:rPr>
              <a:t>We rent a ticketing system we fight with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920240"/>
            <a:ext cx="9290304" cy="2857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900" b="0" dirty="0">
                <a:solidFill>
                  <a:srgbClr val="222838"/>
                </a:solidFill>
              </a:rPr>
              <a:t>•  ServiceNow costs ~$300k/year — and every workflow change </a:t>
            </a:r>
            <a:r>
              <a:rPr lang="en-US" sz="1900" b="0" dirty="0">
                <a:solidFill>
                  <a:srgbClr val="222838"/>
                </a:solidFill>
              </a:rPr>
              <a:t>requires a lot of human effort</a:t>
            </a:r>
            <a:endParaRPr sz="1900" b="0" dirty="0">
              <a:solidFill>
                <a:srgbClr val="222838"/>
              </a:solidFill>
            </a:endParaRPr>
          </a:p>
          <a:p>
            <a:pPr>
              <a:spcAft>
                <a:spcPts val="1400"/>
              </a:spcAft>
            </a:pPr>
            <a:r>
              <a:rPr sz="1900" b="0" dirty="0">
                <a:solidFill>
                  <a:srgbClr val="222838"/>
                </a:solidFill>
              </a:rPr>
              <a:t>•  Agents spend their time ROUTING tickets, not fixing them: manual categorization, priority guessing, the Service Desk relay</a:t>
            </a:r>
            <a:r>
              <a:rPr lang="en-US" sz="1900" b="0" dirty="0">
                <a:solidFill>
                  <a:srgbClr val="222838"/>
                </a:solidFill>
              </a:rPr>
              <a:t> to other departments</a:t>
            </a:r>
            <a:endParaRPr sz="1900" b="0" dirty="0">
              <a:solidFill>
                <a:srgbClr val="222838"/>
              </a:solidFill>
            </a:endParaRPr>
          </a:p>
          <a:p>
            <a:pPr>
              <a:spcAft>
                <a:spcPts val="1400"/>
              </a:spcAft>
            </a:pPr>
            <a:r>
              <a:rPr sz="1900" b="0" dirty="0">
                <a:solidFill>
                  <a:srgbClr val="222838"/>
                </a:solidFill>
              </a:rPr>
              <a:t>•  Requesters get a form with 12 dropdowns and a black hole afterward</a:t>
            </a:r>
          </a:p>
          <a:p>
            <a:pPr>
              <a:spcAft>
                <a:spcPts val="1400"/>
              </a:spcAft>
            </a:pPr>
            <a:r>
              <a:rPr sz="1900" b="1" dirty="0">
                <a:solidFill>
                  <a:srgbClr val="16213A"/>
                </a:solidFill>
              </a:rPr>
              <a:t>★  Over 3 years: ~$950k for software that still makes a human read every ticket first</a:t>
            </a:r>
            <a:endParaRPr lang="en-US" sz="1900" b="1" dirty="0">
              <a:solidFill>
                <a:srgbClr val="16213A"/>
              </a:solidFill>
            </a:endParaRPr>
          </a:p>
          <a:p>
            <a:pPr>
              <a:spcAft>
                <a:spcPts val="1400"/>
              </a:spcAft>
            </a:pPr>
            <a:r>
              <a:rPr lang="en-US" sz="1900" b="1" dirty="0">
                <a:solidFill>
                  <a:srgbClr val="16213A"/>
                </a:solidFill>
              </a:rPr>
              <a:t>							From our ticket intake web portal - 52 different queues! -&gt;</a:t>
            </a:r>
            <a:endParaRPr sz="1900" b="1" dirty="0">
              <a:solidFill>
                <a:srgbClr val="16213A"/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5A647A"/>
                </a:solidFill>
              </a:rPr>
              <a:t>METS — Master Electronics Ticketing System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5D1F0C2-C604-73EE-A48A-E8620675761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20703" y="0"/>
            <a:ext cx="1971297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554480"/>
          </a:xfrm>
          <a:prstGeom prst="rect">
            <a:avLst/>
          </a:prstGeom>
          <a:solidFill>
            <a:srgbClr val="1621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058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F08A1D"/>
                </a:solidFill>
              </a:rPr>
              <a:t>APPROACH  ·  2/6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FFFFFF"/>
                </a:solidFill>
              </a:rPr>
              <a:t>Describe the problem. The system does the rest.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920240"/>
            <a:ext cx="7333488" cy="3477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500" b="0" dirty="0">
                <a:solidFill>
                  <a:srgbClr val="222838"/>
                </a:solidFill>
              </a:rPr>
              <a:t>•  </a:t>
            </a:r>
            <a:r>
              <a:rPr lang="en-US" sz="1500" b="0" dirty="0">
                <a:solidFill>
                  <a:srgbClr val="222838"/>
                </a:solidFill>
              </a:rPr>
              <a:t>METS (Master Electronics Ticketing System) - </a:t>
            </a:r>
            <a:r>
              <a:rPr sz="1500" b="0" dirty="0">
                <a:solidFill>
                  <a:srgbClr val="222838"/>
                </a:solidFill>
              </a:rPr>
              <a:t>Built in one week, solo, with Claude Code — AI-native, not AI-bolted-on, plus the whole helpdesk toolkit: SLAs, approvals, escalations, RBAC, public API, ServiceNow import</a:t>
            </a:r>
          </a:p>
          <a:p>
            <a:pPr>
              <a:spcAft>
                <a:spcPts val="1200"/>
              </a:spcAft>
            </a:pPr>
            <a:r>
              <a:rPr sz="1500" b="1" dirty="0">
                <a:solidFill>
                  <a:srgbClr val="16213A"/>
                </a:solidFill>
              </a:rPr>
              <a:t>★  Every ticket is read by AI as it lands: category, queue, priority in seconds — auto-applied above a confidence gate, held for a human below it, every decision logged and one click to revert</a:t>
            </a:r>
          </a:p>
          <a:p>
            <a:pPr>
              <a:spcAft>
                <a:spcPts val="1200"/>
              </a:spcAft>
            </a:pPr>
            <a:r>
              <a:rPr sz="1500" b="0" dirty="0">
                <a:solidFill>
                  <a:srgbClr val="222838"/>
                </a:solidFill>
              </a:rPr>
              <a:t>•  Corrections become routing patterns: dragging a ticket to the right queue IS training</a:t>
            </a:r>
          </a:p>
          <a:p>
            <a:pPr>
              <a:spcAft>
                <a:spcPts val="1200"/>
              </a:spcAft>
            </a:pPr>
            <a:r>
              <a:rPr sz="1500" b="0" dirty="0">
                <a:solidFill>
                  <a:srgbClr val="222838"/>
                </a:solidFill>
              </a:rPr>
              <a:t>•  Ten AI workflows on one pipeline: triage that reads screenshots and shows its work, deflection, outage detection, KB drafting, fix suggestions from past resolutions, guided intake, bilingual tickets, weekly briefing,</a:t>
            </a:r>
            <a:r>
              <a:rPr lang="en-US" sz="1500" b="0" dirty="0">
                <a:solidFill>
                  <a:srgbClr val="222838"/>
                </a:solidFill>
              </a:rPr>
              <a:t> </a:t>
            </a:r>
            <a:r>
              <a:rPr sz="1500" b="0" dirty="0">
                <a:solidFill>
                  <a:srgbClr val="222838"/>
                </a:solidFill>
              </a:rPr>
              <a:t>search, draft replies</a:t>
            </a:r>
          </a:p>
          <a:p>
            <a:pPr>
              <a:spcAft>
                <a:spcPts val="1200"/>
              </a:spcAft>
            </a:pPr>
            <a:r>
              <a:rPr sz="1500" b="0" dirty="0">
                <a:solidFill>
                  <a:srgbClr val="222838"/>
                </a:solidFill>
              </a:rPr>
              <a:t>•  It spends like an engineer: rules route deterministic tickets for free (SOTO suggests them itself), a mid-tier model triages the routine, the big model steps in only under the gate</a:t>
            </a:r>
            <a:r>
              <a:rPr lang="en-US" sz="1500" b="0" dirty="0">
                <a:solidFill>
                  <a:srgbClr val="222838"/>
                </a:solidFill>
              </a:rPr>
              <a:t>.</a:t>
            </a:r>
            <a:endParaRPr sz="1500" b="0" dirty="0">
              <a:solidFill>
                <a:srgbClr val="222838"/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5A647A"/>
                </a:solidFill>
              </a:rPr>
              <a:t>METS — Master Electronics Ticketing System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AE7074C-683B-0A3C-373E-E9E4102BCA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73568" y="2034540"/>
            <a:ext cx="4185138" cy="38862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554480"/>
          </a:xfrm>
          <a:prstGeom prst="rect">
            <a:avLst/>
          </a:prstGeom>
          <a:solidFill>
            <a:srgbClr val="1621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058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F08A1D"/>
                </a:solidFill>
              </a:rPr>
              <a:t>DEMO HIGHLIGHTS  ·  3/6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5852884" cy="5847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n-US" sz="3200" b="1" dirty="0">
                <a:solidFill>
                  <a:srgbClr val="FFFFFF"/>
                </a:solidFill>
              </a:rPr>
              <a:t>Live Demo - http://10.164.0.235/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920240"/>
            <a:ext cx="10881360" cy="25545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500" b="1" dirty="0">
                <a:solidFill>
                  <a:srgbClr val="16213A"/>
                </a:solidFill>
              </a:rPr>
              <a:t>★  Paste a screenshot — no category, no subject → SOTO shows its work signal by signal, routes with confidence meters, and writes the subject with the error code read from the image</a:t>
            </a:r>
          </a:p>
          <a:p>
            <a:pPr>
              <a:spcAft>
                <a:spcPts val="1200"/>
              </a:spcAft>
            </a:pPr>
            <a:r>
              <a:rPr sz="1500" b="0" dirty="0">
                <a:solidFill>
                  <a:srgbClr val="222838"/>
                </a:solidFill>
              </a:rPr>
              <a:t>•  Three “Zoom is down” reports → one suspected incident, company-wide banner, every requester told “you’re not alone”, one status change closes them all — and admins can Flag → Escalate any ticket instantly, no AI needed</a:t>
            </a:r>
          </a:p>
          <a:p>
            <a:pPr>
              <a:spcAft>
                <a:spcPts val="1200"/>
              </a:spcAft>
            </a:pPr>
            <a:r>
              <a:rPr sz="1500" b="0" dirty="0">
                <a:solidFill>
                  <a:srgbClr val="222838"/>
                </a:solidFill>
              </a:rPr>
              <a:t>•  💡 Suggest fix → SOTO proposes the resolution cited from the past tickets that fixed it — 665 resolutions embedded locally as searchable institutional memory, one click to insert into the reply</a:t>
            </a:r>
          </a:p>
          <a:p>
            <a:pPr>
              <a:spcAft>
                <a:spcPts val="1200"/>
              </a:spcAft>
            </a:pPr>
            <a:r>
              <a:rPr sz="1500" b="0" dirty="0">
                <a:solidFill>
                  <a:srgbClr val="222838"/>
                </a:solidFill>
              </a:rPr>
              <a:t>•  A ticket arrives in Spanish → the agent reads and replies in English; the requester gets it back in Spanish — nobody translates anything</a:t>
            </a:r>
          </a:p>
          <a:p>
            <a:pPr>
              <a:spcAft>
                <a:spcPts val="1200"/>
              </a:spcAft>
            </a:pPr>
            <a:r>
              <a:rPr sz="1500" b="0" dirty="0">
                <a:solidFill>
                  <a:srgbClr val="222838"/>
                </a:solidFill>
              </a:rPr>
              <a:t>•  ✨ SOTO suggests → it notices ticket patterns it keeps routing the same way and proposes bypass rules to stop paying for its own calls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5A647A"/>
                </a:solidFill>
              </a:rPr>
              <a:t>METS — Master Electronics Ticketing System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791A3886-BEFF-E66C-8391-D778156FC5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5360" y="4480395"/>
            <a:ext cx="9993120" cy="164805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554480"/>
          </a:xfrm>
          <a:prstGeom prst="rect">
            <a:avLst/>
          </a:prstGeom>
          <a:solidFill>
            <a:srgbClr val="1621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058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F08A1D"/>
                </a:solidFill>
              </a:rPr>
              <a:t>ALSO IN THE BOX  ·  4/6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FFFFFF"/>
                </a:solidFill>
              </a:rPr>
              <a:t>What a 15-minute demo can’t fit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74520"/>
            <a:ext cx="5395000" cy="3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00" b="1" dirty="0">
                <a:solidFill>
                  <a:srgbClr val="16213A"/>
                </a:solidFill>
              </a:rPr>
              <a:t>•  Self-service deflection</a:t>
            </a:r>
            <a:r>
              <a:rPr sz="1400" b="0" dirty="0">
                <a:solidFill>
                  <a:srgbClr val="222838"/>
                </a:solidFill>
              </a:rPr>
              <a:t> — SOTO answers from the KB before the ticket is even filed</a:t>
            </a:r>
          </a:p>
          <a:p>
            <a:pPr>
              <a:spcAft>
                <a:spcPts val="1000"/>
              </a:spcAft>
            </a:pPr>
            <a:r>
              <a:rPr sz="1400" b="1" dirty="0">
                <a:solidFill>
                  <a:srgbClr val="16213A"/>
                </a:solidFill>
              </a:rPr>
              <a:t>•  KB auto-drafting</a:t>
            </a:r>
            <a:r>
              <a:rPr sz="1400" b="0" dirty="0">
                <a:solidFill>
                  <a:srgbClr val="222838"/>
                </a:solidFill>
              </a:rPr>
              <a:t> — resolved tickets become draft articles for one-click review, with internal-only visibility control</a:t>
            </a:r>
          </a:p>
          <a:p>
            <a:pPr>
              <a:spcAft>
                <a:spcPts val="1000"/>
              </a:spcAft>
            </a:pPr>
            <a:r>
              <a:rPr sz="1400" b="1" dirty="0">
                <a:solidFill>
                  <a:srgbClr val="16213A"/>
                </a:solidFill>
              </a:rPr>
              <a:t>•  Weekly problem briefing</a:t>
            </a:r>
            <a:r>
              <a:rPr sz="1400" b="0" dirty="0">
                <a:solidFill>
                  <a:srgbClr val="222838"/>
                </a:solidFill>
              </a:rPr>
              <a:t> — SOTO reads the whole queue and names the recurring problems worth root-causing</a:t>
            </a:r>
          </a:p>
          <a:p>
            <a:pPr>
              <a:spcAft>
                <a:spcPts val="1000"/>
              </a:spcAft>
            </a:pPr>
            <a:r>
              <a:rPr sz="1400" b="1" dirty="0">
                <a:solidFill>
                  <a:srgbClr val="16213A"/>
                </a:solidFill>
              </a:rPr>
              <a:t>•  Draft replies</a:t>
            </a:r>
            <a:r>
              <a:rPr sz="1400" b="0" dirty="0">
                <a:solidFill>
                  <a:srgbClr val="222838"/>
                </a:solidFill>
              </a:rPr>
              <a:t> — grounded in KB articles, edited by the agent, never auto-sent</a:t>
            </a:r>
          </a:p>
          <a:p>
            <a:pPr>
              <a:spcAft>
                <a:spcPts val="1000"/>
              </a:spcAft>
            </a:pPr>
            <a:r>
              <a:rPr sz="1400" b="1" dirty="0">
                <a:solidFill>
                  <a:srgbClr val="16213A"/>
                </a:solidFill>
              </a:rPr>
              <a:t>•  Agent chat → ticket</a:t>
            </a:r>
            <a:r>
              <a:rPr sz="1400" b="0" dirty="0">
                <a:solidFill>
                  <a:srgbClr val="222838"/>
                </a:solidFill>
              </a:rPr>
              <a:t> — one click turns a chat thread into a routed ticket; work stops hiding in chat</a:t>
            </a:r>
          </a:p>
          <a:p>
            <a:pPr>
              <a:spcAft>
                <a:spcPts val="1000"/>
              </a:spcAft>
            </a:pPr>
            <a:r>
              <a:rPr sz="1400" b="1" dirty="0">
                <a:solidFill>
                  <a:srgbClr val="16213A"/>
                </a:solidFill>
              </a:rPr>
              <a:t>•  Snooze &amp; scheduled wake</a:t>
            </a:r>
            <a:r>
              <a:rPr sz="1400" b="0" dirty="0">
                <a:solidFill>
                  <a:srgbClr val="222838"/>
                </a:solidFill>
              </a:rPr>
              <a:t> — drag to Holding, pick a date; the ticket comes back on its own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48400" y="1874520"/>
            <a:ext cx="5395000" cy="3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00" b="1" dirty="0">
                <a:solidFill>
                  <a:srgbClr val="16213A"/>
                </a:solidFill>
              </a:rPr>
              <a:t>•  Public API + live playground</a:t>
            </a:r>
            <a:r>
              <a:rPr sz="1400" b="0" dirty="0">
                <a:solidFill>
                  <a:srgbClr val="222838"/>
                </a:solidFill>
              </a:rPr>
              <a:t> — key-scoped REST API; imported tickets still answer to their old ServiceNow numbers</a:t>
            </a:r>
          </a:p>
          <a:p>
            <a:pPr>
              <a:spcAft>
                <a:spcPts val="1000"/>
              </a:spcAft>
            </a:pPr>
            <a:r>
              <a:rPr sz="1400" b="1" dirty="0">
                <a:solidFill>
                  <a:srgbClr val="16213A"/>
                </a:solidFill>
              </a:rPr>
              <a:t>•  ServiceNow CSV import</a:t>
            </a:r>
            <a:r>
              <a:rPr sz="1400" b="0" dirty="0">
                <a:solidFill>
                  <a:srgbClr val="222838"/>
                </a:solidFill>
              </a:rPr>
              <a:t> — history, ticket numbers, and requesters ride along on migration day</a:t>
            </a:r>
          </a:p>
          <a:p>
            <a:pPr>
              <a:spcAft>
                <a:spcPts val="1000"/>
              </a:spcAft>
            </a:pPr>
            <a:r>
              <a:rPr sz="1400" b="1" dirty="0">
                <a:solidFill>
                  <a:srgbClr val="16213A"/>
                </a:solidFill>
              </a:rPr>
              <a:t>•  Recurring tickets</a:t>
            </a:r>
            <a:r>
              <a:rPr sz="1400" b="0" dirty="0">
                <a:solidFill>
                  <a:srgbClr val="222838"/>
                </a:solidFill>
              </a:rPr>
              <a:t> — the monthly printer PM files, triages, and routes itself on schedule</a:t>
            </a:r>
          </a:p>
          <a:p>
            <a:pPr>
              <a:spcAft>
                <a:spcPts val="1000"/>
              </a:spcAft>
            </a:pPr>
            <a:r>
              <a:rPr sz="1400" b="1" dirty="0">
                <a:solidFill>
                  <a:srgbClr val="16213A"/>
                </a:solidFill>
              </a:rPr>
              <a:t>•  AI kill switch + daily budget cap</a:t>
            </a:r>
            <a:r>
              <a:rPr sz="1400" b="0" dirty="0">
                <a:solidFill>
                  <a:srgbClr val="222838"/>
                </a:solidFill>
              </a:rPr>
              <a:t> — one click degrades to keyword rules; spend can never run away</a:t>
            </a:r>
          </a:p>
          <a:p>
            <a:pPr>
              <a:spcAft>
                <a:spcPts val="1000"/>
              </a:spcAft>
            </a:pPr>
            <a:r>
              <a:rPr sz="1400" b="1" dirty="0">
                <a:solidFill>
                  <a:srgbClr val="16213A"/>
                </a:solidFill>
              </a:rPr>
              <a:t>•  Merge with a part-number guard</a:t>
            </a:r>
            <a:r>
              <a:rPr sz="1400" b="0" dirty="0">
                <a:solidFill>
                  <a:srgbClr val="222838"/>
                </a:solidFill>
              </a:rPr>
              <a:t> — similar tickets combine; lookalikes with different part numbers don’t</a:t>
            </a:r>
          </a:p>
          <a:p>
            <a:pPr>
              <a:spcAft>
                <a:spcPts val="1000"/>
              </a:spcAft>
            </a:pPr>
            <a:r>
              <a:rPr sz="1400" b="1" dirty="0">
                <a:solidFill>
                  <a:srgbClr val="16213A"/>
                </a:solidFill>
              </a:rPr>
              <a:t>•  The table stakes, all real</a:t>
            </a:r>
            <a:r>
              <a:rPr sz="1400" b="0" dirty="0">
                <a:solidFill>
                  <a:srgbClr val="222838"/>
                </a:solidFill>
              </a:rPr>
              <a:t> — SLAs, approvals, CSAT, VIP scoring, round-robin assign, templates, RBAC, audit trail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943600"/>
            <a:ext cx="4100994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 i="1" dirty="0">
                <a:solidFill>
                  <a:srgbClr val="F08A1D"/>
                </a:solidFill>
              </a:rPr>
              <a:t>★  Every one of these is running live on this network.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5A647A"/>
                </a:solidFill>
              </a:rPr>
              <a:t>METS — Master Electronics Ticketing System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554480"/>
          </a:xfrm>
          <a:prstGeom prst="rect">
            <a:avLst/>
          </a:prstGeom>
          <a:solidFill>
            <a:srgbClr val="1621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058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F08A1D"/>
                </a:solidFill>
              </a:rPr>
              <a:t>BUSINESS IMPACT  ·  5/6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FFFFFF"/>
                </a:solidFill>
              </a:rPr>
              <a:t>The numbers are measured, not projected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920240"/>
            <a:ext cx="10881360" cy="20928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500" b="1" dirty="0">
                <a:solidFill>
                  <a:srgbClr val="16213A"/>
                </a:solidFill>
              </a:rPr>
              <a:t>★  ~$210k+/year saved vs the ServiceNow renewal (3-yr TCO: ~$90–320k vs ~$950k)</a:t>
            </a:r>
          </a:p>
          <a:p>
            <a:pPr>
              <a:spcAft>
                <a:spcPts val="1200"/>
              </a:spcAft>
            </a:pPr>
            <a:r>
              <a:rPr sz="1500" b="0" dirty="0">
                <a:solidFill>
                  <a:srgbClr val="222838"/>
                </a:solidFill>
              </a:rPr>
              <a:t>•  AI routing: 89% accuracy · 78% fully automatic — measured from the audited decision log, not projected</a:t>
            </a:r>
          </a:p>
          <a:p>
            <a:pPr>
              <a:spcAft>
                <a:spcPts val="1200"/>
              </a:spcAft>
            </a:pPr>
            <a:r>
              <a:rPr sz="1500" b="0" dirty="0">
                <a:solidFill>
                  <a:srgbClr val="222838"/>
                </a:solidFill>
              </a:rPr>
              <a:t>•  AI cost: 1</a:t>
            </a:r>
            <a:r>
              <a:rPr lang="en-US" sz="1500" b="0" dirty="0">
                <a:solidFill>
                  <a:srgbClr val="222838"/>
                </a:solidFill>
              </a:rPr>
              <a:t>-3</a:t>
            </a:r>
            <a:r>
              <a:rPr sz="1500" b="0" dirty="0">
                <a:solidFill>
                  <a:srgbClr val="222838"/>
                </a:solidFill>
              </a:rPr>
              <a:t>¢ for a typical ticket, $0 for rule-routed ones — tiered models (cheap first, big only under the confidence gate), prompt caching, and self-suggested bypass rules bend the curve down; every call metered per model</a:t>
            </a:r>
          </a:p>
          <a:p>
            <a:pPr>
              <a:spcAft>
                <a:spcPts val="1200"/>
              </a:spcAft>
            </a:pPr>
            <a:r>
              <a:rPr sz="1500" b="0" dirty="0">
                <a:solidFill>
                  <a:srgbClr val="222838"/>
                </a:solidFill>
              </a:rPr>
              <a:t>•  Self-service deflection + bot first-responses = agent hours back on real work</a:t>
            </a:r>
          </a:p>
          <a:p>
            <a:pPr>
              <a:spcAft>
                <a:spcPts val="1200"/>
              </a:spcAft>
            </a:pPr>
            <a:r>
              <a:rPr sz="1500" b="0" dirty="0">
                <a:solidFill>
                  <a:srgbClr val="222838"/>
                </a:solidFill>
              </a:rPr>
              <a:t>•</a:t>
            </a:r>
            <a:r>
              <a:rPr lang="en-US" sz="1500" b="0" dirty="0">
                <a:solidFill>
                  <a:srgbClr val="222838"/>
                </a:solidFill>
              </a:rPr>
              <a:t>  Keywords</a:t>
            </a:r>
            <a:r>
              <a:rPr sz="1500" b="0" dirty="0">
                <a:solidFill>
                  <a:srgbClr val="222838"/>
                </a:solidFill>
              </a:rPr>
              <a:t>, SLAs, approvals, VIPs, queues, even SOTO’s company knowledge — all live admin settings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5A647A"/>
                </a:solidFill>
              </a:rPr>
              <a:t>METS — Master Electronics Ticketing System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30CBE1D0-6E2F-5597-0B9B-1EF326FF3A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536" y="4963259"/>
            <a:ext cx="4791744" cy="419158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ABAF0040-9F6B-F20B-C6D6-54E94F8A2C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5847" y="4063020"/>
            <a:ext cx="5591955" cy="2638793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554480"/>
          </a:xfrm>
          <a:prstGeom prst="rect">
            <a:avLst/>
          </a:prstGeom>
          <a:solidFill>
            <a:srgbClr val="1621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058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F08A1D"/>
                </a:solidFill>
              </a:rPr>
              <a:t>WHAT'S NEXT  ·  6/6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FFFFFF"/>
                </a:solidFill>
              </a:rPr>
              <a:t>What’s next: more AI, less toil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920240"/>
            <a:ext cx="10881360" cy="24006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500" b="0" dirty="0">
                <a:solidFill>
                  <a:srgbClr val="222838"/>
                </a:solidFill>
              </a:rPr>
              <a:t>•  On the roadmap now: asset tracking tied to tickets, problem management on top of the weekly briefing, a bilingual requester portal (ticket content already translates both ways)</a:t>
            </a:r>
          </a:p>
          <a:p>
            <a:pPr>
              <a:spcAft>
                <a:spcPts val="1200"/>
              </a:spcAft>
            </a:pPr>
            <a:r>
              <a:rPr sz="1500" b="0" dirty="0">
                <a:solidFill>
                  <a:srgbClr val="222838"/>
                </a:solidFill>
              </a:rPr>
              <a:t>•  No lock-in: the AI vendor is a plug-in behind one interface — a one-click kill switch drops to keyword rules and the helpdesk keeps running</a:t>
            </a:r>
          </a:p>
          <a:p>
            <a:pPr>
              <a:spcAft>
                <a:spcPts val="1200"/>
              </a:spcAft>
            </a:pPr>
            <a:r>
              <a:rPr sz="1500" b="0" dirty="0">
                <a:solidFill>
                  <a:srgbClr val="222838"/>
                </a:solidFill>
              </a:rPr>
              <a:t>•  Two activations, not builds: Entra SSO and mailbox email are written and dormant — one app registration each; migration day is a CSV upload (history, numbers, requesters come along)</a:t>
            </a:r>
          </a:p>
          <a:p>
            <a:pPr>
              <a:spcAft>
                <a:spcPts val="1200"/>
              </a:spcAft>
            </a:pPr>
            <a:r>
              <a:rPr sz="1500" b="0" dirty="0">
                <a:solidFill>
                  <a:srgbClr val="222838"/>
                </a:solidFill>
              </a:rPr>
              <a:t>•  Honest debt, documented (PROPOSAL.md) — and the learning loop compounds: every correction and KB article makes next month better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5A647A"/>
                </a:solidFill>
              </a:rPr>
              <a:t>METS — Master Electronics Ticketing System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672</TotalTime>
  <Words>1028</Words>
  <Application>Microsoft Office PowerPoint</Application>
  <PresentationFormat>Widescreen</PresentationFormat>
  <Paragraphs>55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Aptos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Justin Rhoda</cp:lastModifiedBy>
  <cp:revision>17</cp:revision>
  <dcterms:created xsi:type="dcterms:W3CDTF">2013-01-27T09:14:16Z</dcterms:created>
  <dcterms:modified xsi:type="dcterms:W3CDTF">2026-07-21T16:58:15Z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1bf03475-3b06-406e-a2a9-988bf08f8d11_Enabled">
    <vt:lpwstr>true</vt:lpwstr>
  </property>
  <property fmtid="{D5CDD505-2E9C-101B-9397-08002B2CF9AE}" pid="3" name="MSIP_Label_1bf03475-3b06-406e-a2a9-988bf08f8d11_SetDate">
    <vt:lpwstr>2026-07-16T01:24:57Z</vt:lpwstr>
  </property>
  <property fmtid="{D5CDD505-2E9C-101B-9397-08002B2CF9AE}" pid="4" name="MSIP_Label_1bf03475-3b06-406e-a2a9-988bf08f8d11_Method">
    <vt:lpwstr>Standard</vt:lpwstr>
  </property>
  <property fmtid="{D5CDD505-2E9C-101B-9397-08002B2CF9AE}" pid="5" name="MSIP_Label_1bf03475-3b06-406e-a2a9-988bf08f8d11_Name">
    <vt:lpwstr>Internal</vt:lpwstr>
  </property>
  <property fmtid="{D5CDD505-2E9C-101B-9397-08002B2CF9AE}" pid="6" name="MSIP_Label_1bf03475-3b06-406e-a2a9-988bf08f8d11_SiteId">
    <vt:lpwstr>56f019d2-c7ea-4950-b0b2-f9cb651614bc</vt:lpwstr>
  </property>
  <property fmtid="{D5CDD505-2E9C-101B-9397-08002B2CF9AE}" pid="7" name="MSIP_Label_1bf03475-3b06-406e-a2a9-988bf08f8d11_ActionId">
    <vt:lpwstr>fa001749-94f8-4e5e-ad21-40d4e477ec60</vt:lpwstr>
  </property>
  <property fmtid="{D5CDD505-2E9C-101B-9397-08002B2CF9AE}" pid="8" name="MSIP_Label_1bf03475-3b06-406e-a2a9-988bf08f8d11_ContentBits">
    <vt:lpwstr>1</vt:lpwstr>
  </property>
  <property fmtid="{D5CDD505-2E9C-101B-9397-08002B2CF9AE}" pid="9" name="MSIP_Label_1bf03475-3b06-406e-a2a9-988bf08f8d11_Tag">
    <vt:lpwstr>10, 3, 0, 1</vt:lpwstr>
  </property>
  <property fmtid="{D5CDD505-2E9C-101B-9397-08002B2CF9AE}" pid="10" name="ClassificationContentMarkingHeaderLocations">
    <vt:lpwstr>Office Theme:8</vt:lpwstr>
  </property>
  <property fmtid="{D5CDD505-2E9C-101B-9397-08002B2CF9AE}" pid="11" name="ClassificationContentMarkingHeaderText">
    <vt:lpwstr>INTERNAL</vt:lpwstr>
  </property>
</Properties>
</file>