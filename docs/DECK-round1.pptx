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12F1E-D5CD-1AAA-4244-BC792844542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PROBLEM  ·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We rent a ticketing system we fight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290304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ServiceNow costs ~$300k/year — and every workflow change </a:t>
            </a:r>
            <a:r>
              <a:rPr lang="en-US" sz="1900" b="0" dirty="0">
                <a:solidFill>
                  <a:srgbClr val="222838"/>
                </a:solidFill>
              </a:rPr>
              <a:t>requires a lot of human effort</a:t>
            </a:r>
            <a:endParaRPr sz="1900"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Agents spend their time ROUTING tickets, not fixing them: manual categorization, priority guessing, the Service Desk relay</a:t>
            </a:r>
            <a:r>
              <a:rPr lang="en-US" sz="1900" b="0" dirty="0">
                <a:solidFill>
                  <a:srgbClr val="222838"/>
                </a:solidFill>
              </a:rPr>
              <a:t> to other departments</a:t>
            </a:r>
            <a:endParaRPr sz="1900"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Requesters get a form with 12 dropdowns and a black hole afterward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Over 3 years: ~$950k for software that still makes a human read every ticket first</a:t>
            </a:r>
            <a:endParaRPr lang="en-US" sz="1900" b="1" dirty="0">
              <a:solidFill>
                <a:srgbClr val="16213A"/>
              </a:solidFill>
            </a:endParaRPr>
          </a:p>
          <a:p>
            <a:pPr>
              <a:spcAft>
                <a:spcPts val="1400"/>
              </a:spcAft>
            </a:pPr>
            <a:r>
              <a:rPr lang="en-US" sz="1900" b="1" dirty="0">
                <a:solidFill>
                  <a:srgbClr val="16213A"/>
                </a:solidFill>
              </a:rPr>
              <a:t>							From our ticket intake web portal - 52 different queues! -&gt;</a:t>
            </a:r>
            <a:endParaRPr sz="1900" b="1" dirty="0">
              <a:solidFill>
                <a:srgbClr val="16213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1F0C2-C604-73EE-A48A-E8620675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703" y="0"/>
            <a:ext cx="19712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APPROACH  ·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Describe the problem. The system does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333488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0" dirty="0">
                <a:solidFill>
                  <a:srgbClr val="222838"/>
                </a:solidFill>
              </a:rPr>
              <a:t>•  METS </a:t>
            </a:r>
            <a:r>
              <a:rPr lang="en-US" b="0" dirty="0">
                <a:solidFill>
                  <a:srgbClr val="222838"/>
                </a:solidFill>
              </a:rPr>
              <a:t>(Master Electronics Ticketing System)</a:t>
            </a:r>
            <a:r>
              <a:rPr b="0" dirty="0">
                <a:solidFill>
                  <a:srgbClr val="222838"/>
                </a:solidFill>
              </a:rPr>
              <a:t>— built in one week, solo, with Claude Code. AI-native, not AI-bolted-on</a:t>
            </a:r>
            <a:r>
              <a:rPr lang="en-US" b="0" dirty="0">
                <a:solidFill>
                  <a:srgbClr val="222838"/>
                </a:solidFill>
              </a:rPr>
              <a:t>.</a:t>
            </a:r>
            <a:endParaRPr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b="1" dirty="0">
                <a:solidFill>
                  <a:srgbClr val="16213A"/>
                </a:solidFill>
              </a:rPr>
              <a:t>★  Every new ticket is read by AI the moment it lands: category, queue, and priority assigned in seconds — applied automatically above a confidence bar, held for a human below it, every decision logged and one click to revert</a:t>
            </a:r>
          </a:p>
          <a:p>
            <a:pPr>
              <a:spcAft>
                <a:spcPts val="1400"/>
              </a:spcAft>
            </a:pPr>
            <a:r>
              <a:rPr b="0" dirty="0">
                <a:solidFill>
                  <a:srgbClr val="222838"/>
                </a:solidFill>
              </a:rPr>
              <a:t>•  Corrections become routing patterns: dragging a ticket to the right queue IS training</a:t>
            </a:r>
          </a:p>
          <a:p>
            <a:pPr>
              <a:spcAft>
                <a:spcPts val="1400"/>
              </a:spcAft>
            </a:pPr>
            <a:r>
              <a:rPr b="0" dirty="0">
                <a:solidFill>
                  <a:srgbClr val="222838"/>
                </a:solidFill>
              </a:rPr>
              <a:t>•  Nine AI workflows on one pipeline: triage (reads screenshots, writes subjects), deflection, outage detection, KB drafting, guided intake, bilingual tickets, weekly problem briefing, NL search, draft replies</a:t>
            </a:r>
          </a:p>
          <a:p>
            <a:pPr>
              <a:spcAft>
                <a:spcPts val="1400"/>
              </a:spcAft>
            </a:pPr>
            <a:r>
              <a:rPr b="0" dirty="0">
                <a:solidFill>
                  <a:srgbClr val="222838"/>
                </a:solidFill>
              </a:rPr>
              <a:t>•  And the whole helpdesk toolkit: SLAs, approvals, escalations, RBAC, public API, ServiceNow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7074C-683B-0A3C-373E-E9E4102B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034540"/>
            <a:ext cx="4185138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DEMO HIGHLIGHTS  ·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Five moments — in the video and live to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6213A"/>
                </a:solidFill>
              </a:rPr>
              <a:t>★  Paste a screenshot, no category, no subject → routed at 97% confidence; the error code was read from the image</a:t>
            </a: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222838"/>
                </a:solidFill>
              </a:rPr>
              <a:t>•  Three “Zoom is down” reports → one suspected incident, company-wide banner, one status change closes them all — live in one click: the ⚠️ Incident Demo button</a:t>
            </a:r>
          </a:p>
          <a:p>
            <a:pPr>
              <a:spcAft>
                <a:spcPts val="1400"/>
              </a:spcAft>
            </a:pPr>
            <a:r>
              <a:rPr lang="en-US" sz="1600" b="0" dirty="0">
                <a:solidFill>
                  <a:srgbClr val="222838"/>
                </a:solidFill>
              </a:rPr>
              <a:t>•  “VP</a:t>
            </a:r>
            <a:r>
              <a:rPr sz="1600" b="0" dirty="0">
                <a:solidFill>
                  <a:srgbClr val="222838"/>
                </a:solidFill>
              </a:rPr>
              <a:t>N keeps dropping” → SOTO Bot sends the fix; requester replies “solved”; ticket closes with zero agent involvement</a:t>
            </a: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222838"/>
                </a:solidFill>
              </a:rPr>
              <a:t>•  Databricks access → SOTO asks only what the ticket didn't answer, then routes straight to the Data Team</a:t>
            </a: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222838"/>
                </a:solidFill>
              </a:rPr>
              <a:t>•  </a:t>
            </a:r>
            <a:r>
              <a:rPr lang="en-US" sz="1600" dirty="0">
                <a:solidFill>
                  <a:srgbClr val="222838"/>
                </a:solidFill>
              </a:rPr>
              <a:t>A ticket arrives in Spanish → the agent reads and replies in English; the requester gets it back in Spanish — nobody translates anything</a:t>
            </a:r>
            <a:endParaRPr sz="1600" b="0" dirty="0">
              <a:solidFill>
                <a:srgbClr val="22283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1A3886-BEFF-E66C-8391-D778156F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60" y="4480395"/>
            <a:ext cx="9993120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BUSINESS IMPACT  · 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numbers are measured, not projected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~$210k+/year saved vs the ServiceNow renewal (3-yr TCO: ~$90–320k vs ~$950k)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AI routing: 88% accuracy · 80% fully automatic — from the audited decision log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AI cost: ~2</a:t>
            </a:r>
            <a:r>
              <a:rPr lang="en-US" sz="1900" b="0" dirty="0">
                <a:solidFill>
                  <a:srgbClr val="222838"/>
                </a:solidFill>
              </a:rPr>
              <a:t>-3</a:t>
            </a:r>
            <a:r>
              <a:rPr sz="1900" b="0" dirty="0">
                <a:solidFill>
                  <a:srgbClr val="222838"/>
                </a:solidFill>
              </a:rPr>
              <a:t>¢ to triage a ticket; ~$1</a:t>
            </a:r>
            <a:r>
              <a:rPr lang="en-US" sz="1900" b="0" dirty="0">
                <a:solidFill>
                  <a:srgbClr val="222838"/>
                </a:solidFill>
              </a:rPr>
              <a:t>2</a:t>
            </a:r>
            <a:r>
              <a:rPr sz="1900" b="0" dirty="0">
                <a:solidFill>
                  <a:srgbClr val="222838"/>
                </a:solidFill>
              </a:rPr>
              <a:t>/month at demo volume — scales linearly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Self-service deflection + bot first-responses = agent hours back on real work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</a:t>
            </a:r>
            <a:r>
              <a:rPr lang="en-US" sz="1900" b="0" dirty="0">
                <a:solidFill>
                  <a:srgbClr val="222838"/>
                </a:solidFill>
              </a:rPr>
              <a:t>K</a:t>
            </a:r>
            <a:r>
              <a:rPr sz="1900" b="0" dirty="0">
                <a:solidFill>
                  <a:srgbClr val="222838"/>
                </a:solidFill>
              </a:rPr>
              <a:t>eywords, SLAs, approvals, VIPs, queues — all live admin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E255F-D9C4-1F1D-F488-639AEE87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41" y="4144175"/>
            <a:ext cx="5620534" cy="245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CC499A-D2F7-6E77-1D16-F0272A43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74" y="4944004"/>
            <a:ext cx="5096586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WHAT'S NEXT  ·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What’s next: more AI, less toil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On the roadmap: routing that learns from every past resolution, AI-suggested fixes surfaced to agents as they work, and asset tracking tied to tickets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Two activations, not builds: Entra SSO and mailbox email are written and dormant — one app registration each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Migration day is a CSV upload: history, numbers, and requesters come along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Honest debt, documented: durable jobs, embedding scale, retention (PROPOSAL.md)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The learning loop compounds — every correction and KB article makes next month better than this one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Try it yourself during judging:</a:t>
            </a:r>
            <a:r>
              <a:rPr lang="en-US" sz="1900" b="0" dirty="0">
                <a:solidFill>
                  <a:srgbClr val="222838"/>
                </a:solidFill>
              </a:rPr>
              <a:t> </a:t>
            </a:r>
            <a:r>
              <a:rPr lang="en-US" sz="1900" dirty="0">
                <a:solidFill>
                  <a:srgbClr val="222838"/>
                </a:solidFill>
              </a:rPr>
              <a:t>http://10.164.0.235/</a:t>
            </a:r>
            <a:r>
              <a:rPr sz="1900" b="0" dirty="0">
                <a:solidFill>
                  <a:srgbClr val="222838"/>
                </a:solidFill>
              </a:rPr>
              <a:t>— file a ticket, press ⚠️ Incident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669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Rhoda</cp:lastModifiedBy>
  <cp:revision>12</cp:revision>
  <dcterms:created xsi:type="dcterms:W3CDTF">2013-01-27T09:14:16Z</dcterms:created>
  <dcterms:modified xsi:type="dcterms:W3CDTF">2026-07-17T17:27:35Z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f03475-3b06-406e-a2a9-988bf08f8d11_Enabled">
    <vt:lpwstr>true</vt:lpwstr>
  </property>
  <property fmtid="{D5CDD505-2E9C-101B-9397-08002B2CF9AE}" pid="3" name="MSIP_Label_1bf03475-3b06-406e-a2a9-988bf08f8d11_SetDate">
    <vt:lpwstr>2026-07-16T01:24:57Z</vt:lpwstr>
  </property>
  <property fmtid="{D5CDD505-2E9C-101B-9397-08002B2CF9AE}" pid="4" name="MSIP_Label_1bf03475-3b06-406e-a2a9-988bf08f8d11_Method">
    <vt:lpwstr>Standard</vt:lpwstr>
  </property>
  <property fmtid="{D5CDD505-2E9C-101B-9397-08002B2CF9AE}" pid="5" name="MSIP_Label_1bf03475-3b06-406e-a2a9-988bf08f8d11_Name">
    <vt:lpwstr>Internal</vt:lpwstr>
  </property>
  <property fmtid="{D5CDD505-2E9C-101B-9397-08002B2CF9AE}" pid="6" name="MSIP_Label_1bf03475-3b06-406e-a2a9-988bf08f8d11_SiteId">
    <vt:lpwstr>56f019d2-c7ea-4950-b0b2-f9cb651614bc</vt:lpwstr>
  </property>
  <property fmtid="{D5CDD505-2E9C-101B-9397-08002B2CF9AE}" pid="7" name="MSIP_Label_1bf03475-3b06-406e-a2a9-988bf08f8d11_ActionId">
    <vt:lpwstr>fa001749-94f8-4e5e-ad21-40d4e477ec60</vt:lpwstr>
  </property>
  <property fmtid="{D5CDD505-2E9C-101B-9397-08002B2CF9AE}" pid="8" name="MSIP_Label_1bf03475-3b06-406e-a2a9-988bf08f8d11_ContentBits">
    <vt:lpwstr>1</vt:lpwstr>
  </property>
  <property fmtid="{D5CDD505-2E9C-101B-9397-08002B2CF9AE}" pid="9" name="MSIP_Label_1bf03475-3b06-406e-a2a9-988bf08f8d11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